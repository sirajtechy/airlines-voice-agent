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 seconds. Don't read the slide.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Screen: the live advisory page, scrolled to these sentences. Let them be read. Say: 'these are not in any database — they're prose on a web page.'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Screen: phone on /talk. Say the PNR out loud. Then P3L8QK. The contrast IS the pitch — same destination, opposite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ONE arrow pointing back in — the context.dev monitor webhook. Everything else is request/response; that is a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on the parallel block while saying: one booking reference, five live sources, one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separates us from a chatbot with a search box. Every one of these is pinned by a test against verbatim page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ONE to demo live: change detection, airspace snapshot, the card-number guardrail, or Arabic. Not all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before a judge asks. Overclaiming is explicitly penalised; naming limits reads as engineering maturity.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slide. Use if judges probe on robustness 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but strong. Shows we tested adversarially rather than demoed happy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here. Leave it on screen while you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695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417320"/>
            <a:ext cx="1581626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788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6200" b="1">
                <a:solidFill>
                  <a:srgbClr val="D71921"/>
                </a:solidFill>
                <a:latin typeface="Helvetica Neue"/>
              </a:rPr>
              <a:t>RAAHI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5C6069"/>
                </a:solidFill>
                <a:latin typeface="Helvetica Neue"/>
              </a:rPr>
              <a:t>Y O U R   W A Y   F O R W A R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343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C"/>
                </a:solidFill>
                <a:latin typeface="Helvetica Neue"/>
              </a:rPr>
              <a:t>A voice copilot that reads the page airlines actually publish —</a:t>
            </a:r>
          </a:p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C"/>
                </a:solidFill>
                <a:latin typeface="Helvetica Neue"/>
              </a:rPr>
              <a:t>and tells a stranded passenger what to do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C6069"/>
                </a:solidFill>
                <a:latin typeface="Helvetica Neue"/>
              </a:rPr>
              <a:t>Siraj  ·  Astha  ·  Farman        BUiD Voice Agents Hackathon, Dubai  ·  8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Two sentences decide whether she should get in a taxi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“The UAE will not allow entry to travellers who have recently been in the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Democratic Republic of Congo, Uganda, or South Sudan, unless the traveller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has been outside of these countries for more than 21 days.”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“The entry and transit restrictions apply to all travellers, even those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arriving by indirect routings.”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6085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4897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Not in any database.  </a:t>
            </a:r>
            <a:r>
              <a:rPr sz="1500">
                <a:solidFill>
                  <a:srgbClr val="5C6069"/>
                </a:solidFill>
                <a:latin typeface="Helvetica Neue"/>
              </a:rPr>
              <a:t>Prose on emirates.com/help/travel-updates — changed in June, will change again.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11149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992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Buried.  </a:t>
            </a:r>
            <a:r>
              <a:rPr sz="1500">
                <a:solidFill>
                  <a:srgbClr val="5C6069"/>
                </a:solidFill>
                <a:latin typeface="Helvetica Neue"/>
              </a:rPr>
              <a:t>Between a lounge refurbishment notice and Schengen biometrics.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614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54955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Decisive.  </a:t>
            </a:r>
            <a:r>
              <a:rPr sz="1500">
                <a:solidFill>
                  <a:srgbClr val="5C6069"/>
                </a:solidFill>
                <a:latin typeface="Helvetica Neue"/>
              </a:rPr>
              <a:t>Kampala → Dubai → London is blocked. The queue to ask is measured in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One booking reference → five live checks → one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1">
                <a:solidFill>
                  <a:srgbClr val="D71921"/>
                </a:solidFill>
                <a:latin typeface="Helvetica Neue"/>
              </a:rPr>
              <a:t>“My booking reference is K seven X two M nine — should I leave for the airport?”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6883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5694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transit_rules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— restriction keys off ORIGIN, not destination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6382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0449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disruption_status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— is London itself affected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63931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520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entry_requirements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+ gov.uk + europa.eu — UK ETA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114800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9959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track_aircraft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ADS-B transponder — where the aircraft physically is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4590288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7141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weather_ops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METAR — Dubai station conditions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120640"/>
            <a:ext cx="109728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39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85232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Helvetica Neue"/>
              </a:rPr>
              <a:t>Answered in 1.98 seconds, fanned out in parallel.        Control case: P3L8QK — Mumbai → London.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Helvetica Neue"/>
              </a:rPr>
              <a:t>Same destination. Opposite answer. Because the restriction depends on where you have BEEN.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Five layers, and failure flows down gracefully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tectur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11247120" cy="52611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CALL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PNR in, decision out — with the parallel fan-out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-call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83080"/>
            <a:ext cx="663677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What a keyword match would get wrong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Two-sided matching  </a:t>
            </a:r>
            <a:r>
              <a:rPr sz="1400">
                <a:solidFill>
                  <a:srgbClr val="5C6069"/>
                </a:solidFill>
                <a:latin typeface="Helvetica Neue"/>
              </a:rPr>
              <a:t>Restrictions key off where you have BEEN. Destination-only checking tells the Kampala passenger she is fine. She is not.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807208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6883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Sentence windows  </a:t>
            </a:r>
            <a:r>
              <a:rPr sz="1400">
                <a:solidFill>
                  <a:srgbClr val="5C6069"/>
                </a:solidFill>
                <a:latin typeface="Helvetica Neue"/>
              </a:rPr>
              <a:t>The qualifier that changes the answer sits in a neighbouring sentence, so every match reads one either side.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611880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930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Effective-from ≠ until  </a:t>
            </a:r>
            <a:r>
              <a:rPr sz="1400">
                <a:solidFill>
                  <a:srgbClr val="5C6069"/>
                </a:solidFill>
                <a:latin typeface="Helvetica Neue"/>
              </a:rPr>
              <a:t>“effective 6 June 2026 (until further notice)” contains a date that is not an end date. Returns open_ended, not a lifted restriction.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41655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297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Main-clause classification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“If you do NOT need a visa… you WILL need an ETA.” The negation is in the subordinate clause. Filing that as an exemption gets someone denied boarding.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522122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51023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Alias resolution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Callers say “DRC”, “the Congo”, “Kampala”. The page says “Democratic Republic of Congo”, “Uganda”.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SPONSOR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context.dev and ElevenLabs, used to their edges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CONTEXT.DEV — 4 CAPABILITIES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414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2951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scrape/markdown  </a:t>
            </a:r>
            <a:r>
              <a:rPr sz="1300">
                <a:solidFill>
                  <a:srgbClr val="5C6069"/>
                </a:solidFill>
                <a:latin typeface="Helvetica Neue"/>
              </a:rPr>
              <a:t>4 verified sources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7523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web/search  </a:t>
            </a:r>
            <a:r>
              <a:rPr sz="1300">
                <a:solidFill>
                  <a:srgbClr val="5C6069"/>
                </a:solidFill>
                <a:latin typeface="Helvetica Neue"/>
              </a:rPr>
              <a:t>allowlisted to 3 official domains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328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95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monitors  </a:t>
            </a:r>
            <a:r>
              <a:rPr sz="1300">
                <a:solidFill>
                  <a:srgbClr val="5C6069"/>
                </a:solidFill>
                <a:latin typeface="Helvetica Neue"/>
              </a:rPr>
              <a:t>semantic diff every 15 min, signed webhook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7856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6667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scrape/html  </a:t>
            </a:r>
            <a:r>
              <a:rPr sz="1300">
                <a:solidFill>
                  <a:srgbClr val="5C6069"/>
                </a:solidFill>
                <a:latin typeface="Helvetica Neue"/>
              </a:rPr>
              <a:t>evaluated; markdown sufficed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ELEVENLABS — BOTH INTEGRATION PATHS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2414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2951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12 webhook tools  </a:t>
            </a:r>
            <a:r>
              <a:rPr sz="1300">
                <a:solidFill>
                  <a:srgbClr val="5C6069"/>
                </a:solidFill>
                <a:latin typeface="Helvetica Neue"/>
              </a:rPr>
              <a:t>schedule &amp; policy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7523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Native MCP server  </a:t>
            </a:r>
            <a:r>
              <a:rPr sz="1300">
                <a:solidFill>
                  <a:srgbClr val="5C6069"/>
                </a:solidFill>
                <a:latin typeface="Helvetica Neue"/>
              </a:rPr>
              <a:t>live ADS-B tracking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328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32095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ASR keyword boost  </a:t>
            </a:r>
            <a:r>
              <a:rPr sz="1300">
                <a:solidFill>
                  <a:srgbClr val="5C6069"/>
                </a:solidFill>
                <a:latin typeface="Helvetica Neue"/>
              </a:rPr>
              <a:t>callsigns, codes, Arabic terms</a:t>
            </a:r>
          </a:p>
        </p:txBody>
      </p:sp>
      <p:sp>
        <p:nvSpPr>
          <p:cNvPr id="24" name="Oval 23"/>
          <p:cNvSpPr/>
          <p:nvPr/>
        </p:nvSpPr>
        <p:spPr>
          <a:xfrm>
            <a:off x="6309360" y="37856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36667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Language presets  </a:t>
            </a:r>
            <a:r>
              <a:rPr sz="1300">
                <a:solidFill>
                  <a:srgbClr val="5C6069"/>
                </a:solidFill>
                <a:latin typeface="Helvetica Neue"/>
              </a:rPr>
              <a:t>Arabic + Hindi, switches mid-call</a:t>
            </a:r>
          </a:p>
        </p:txBody>
      </p:sp>
      <p:sp>
        <p:nvSpPr>
          <p:cNvPr id="26" name="Oval 25"/>
          <p:cNvSpPr/>
          <p:nvPr/>
        </p:nvSpPr>
        <p:spPr>
          <a:xfrm>
            <a:off x="6309360" y="42428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41239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Guardrails  </a:t>
            </a:r>
            <a:r>
              <a:rPr sz="1300">
                <a:solidFill>
                  <a:srgbClr val="5C6069"/>
                </a:solidFill>
                <a:latin typeface="Helvetica Neue"/>
              </a:rPr>
              <a:t>focus, injection, content, 2 custom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4700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45811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Eval criteria  </a:t>
            </a:r>
            <a:r>
              <a:rPr sz="1300">
                <a:solidFill>
                  <a:srgbClr val="5C6069"/>
                </a:solidFill>
                <a:latin typeface="Helvetica Neue"/>
              </a:rPr>
              <a:t>every call scored post-hoc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715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C6069"/>
                </a:solidFill>
                <a:latin typeface="Helvetica Neue"/>
              </a:rPr>
              <a:t>Plus: adsb.lol ADS-B (keyless, ODbL) · aviationweather.gov METAR · Render · Node 18 / Express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WHAT IS ACTUALLY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Every response carries its own source 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Live on every call  </a:t>
            </a:r>
            <a:r>
              <a:rPr sz="1400">
                <a:solidFill>
                  <a:srgbClr val="5C6069"/>
                </a:solidFill>
                <a:latin typeface="Helvetica Neue"/>
              </a:rPr>
              <a:t>disruption_status · transit_rules · entry_requirements · weather_ops · recent_changes · travel_intel · track_aircraft · airspace_snapshot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7523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Split-source, labelled  </a:t>
            </a:r>
            <a:r>
              <a:rPr sz="1400">
                <a:solidFill>
                  <a:srgbClr val="5C6069"/>
                </a:solidFill>
                <a:latin typeface="Helvetica Neue"/>
              </a:rPr>
              <a:t>flight_status — ADS-B position live, schedule static. Two source fields so the live half cannot lend credibility to the static half.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73989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6210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Static by design  </a:t>
            </a:r>
            <a:r>
              <a:rPr sz="1400">
                <a:solidFill>
                  <a:srgbClr val="5C6069"/>
                </a:solidFill>
                <a:latin typeface="Helvetica Neue"/>
              </a:rPr>
              <a:t>policy_lookup — entitlements do not change hourly.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WHAT WE DO NOT CLAIM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50657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9469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real PNR lookup.  </a:t>
            </a:r>
            <a:r>
              <a:rPr sz="1300">
                <a:solidFill>
                  <a:srgbClr val="5C6069"/>
                </a:solidFill>
                <a:latin typeface="Helvetica Neue"/>
              </a:rPr>
              <a:t>emirates.com/manage-booking is auth-gated — we scraped it and got a login redirect. The booking store is a labelled stub; everything downstream is live.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554126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4223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live gates or delays.  </a:t>
            </a:r>
            <a:r>
              <a:rPr sz="1300">
                <a:solidFill>
                  <a:srgbClr val="5C6069"/>
                </a:solidFill>
                <a:latin typeface="Helvetica Neue"/>
              </a:rPr>
              <a:t>Commercial data. ADS-B gives position, not schedule, and we label it as position.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601675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5897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push into a live turn.  </a:t>
            </a:r>
            <a:r>
              <a:rPr sz="1300">
                <a:solidFill>
                  <a:srgbClr val="5C6069"/>
                </a:solidFill>
                <a:latin typeface="Helvetica Neue"/>
              </a:rPr>
              <a:t>The monitor pushes to us in minutes; the agent learns on its next tool call.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RELIABILITY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The demo has to survive venue wifi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Never a 500  </a:t>
            </a:r>
            <a:r>
              <a:rPr sz="1400">
                <a:solidFill>
                  <a:srgbClr val="5C6069"/>
                </a:solidFill>
                <a:latin typeface="Helvetica Neue"/>
              </a:rPr>
              <a:t>Any throw becomes 200 + a spoken-friendly message. A failed tool call is a voice agent going silent mid-sentence.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6883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5694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live → cache → static → apology  </a:t>
            </a:r>
            <a:r>
              <a:rPr sz="1400">
                <a:solidFill>
                  <a:srgbClr val="5C6069"/>
                </a:solidFill>
                <a:latin typeface="Helvetica Neue"/>
              </a:rPr>
              <a:t>Four-step degradation on every source call, with the honest label attached.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3741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2552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58 tests, key blank  </a:t>
            </a:r>
            <a:r>
              <a:rPr sz="1400">
                <a:solidFill>
                  <a:srgbClr val="5C6069"/>
                </a:solidFill>
                <a:latin typeface="Helvetica Neue"/>
              </a:rPr>
              <a:t>The offline path is the one tested hardest.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0599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410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Two guardrail layers  </a:t>
            </a:r>
            <a:r>
              <a:rPr sz="1400">
                <a:solidFill>
                  <a:srgbClr val="5C6069"/>
                </a:solidFill>
                <a:latin typeface="Helvetica Neue"/>
              </a:rPr>
              <a:t>Platform guardrails outside the LLM + prompt rules. Verified adversarially: 5/5.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7457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6268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Backend redaction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Cards, CVVs, IBANs, passports scrubbed from logs — Luhn-checked so ticket numbers survive.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5431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312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Injection defanged  </a:t>
            </a:r>
            <a:r>
              <a:rPr sz="1400">
                <a:solidFill>
                  <a:srgbClr val="5C6069"/>
                </a:solidFill>
                <a:latin typeface="Helvetica Neue"/>
              </a:rPr>
              <a:t>Scraped prose is untrusted input handed to an LLM. Neutralised at the choke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TWO BUGS WORTH ADMITTING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Both found by testing, both pinned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939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751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The agent invented an all-clear.  </a:t>
            </a:r>
            <a:r>
              <a:rPr sz="1500">
                <a:solidFill>
                  <a:srgbClr val="5C6069"/>
                </a:solidFill>
                <a:latin typeface="Helvetica Neue"/>
              </a:rPr>
              <a:t>Given an unreadable tool result it said “clear to travel, proceed to the airport.” The backend said BLOCKED. It would have sent her to be refused at the gate. Now: an unreadable result is never good news, and it will not soften under a repeated question.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014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8953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One sentence could flip blocked → allowed.  </a:t>
            </a:r>
            <a:r>
              <a:rPr sz="1500">
                <a:solidFill>
                  <a:srgbClr val="5C6069"/>
                </a:solidFill>
                <a:latin typeface="Helvetica Neue"/>
              </a:rPr>
              <a:t>The origin-side check asked a document-level question of a ±1 sentence window. An intervening sentence pushed the proof out and reversed the answer — reachable by Emirates simply editing their page. Scope is now read document-wide.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695" cy="38100"/>
          </a:xfrm>
          <a:prstGeom prst="rect">
            <a:avLst/>
          </a:prstGeom>
          <a:solidFill>
            <a:srgbClr val="C39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4000" b="0">
                <a:solidFill>
                  <a:srgbClr val="1C1C1C"/>
                </a:solidFill>
                <a:latin typeface="Helvetica Neue"/>
              </a:rPr>
              <a:t>Scan and talk to Raahi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6069"/>
                </a:solidFill>
                <a:latin typeface="Helvetica Neue"/>
              </a:rPr>
              <a:t>No app. A phone browser and a microphone.</a:t>
            </a:r>
          </a:p>
        </p:txBody>
      </p:sp>
      <p:pic>
        <p:nvPicPr>
          <p:cNvPr id="7" name="Picture 6" descr="raahi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96596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3121A"/>
                </a:solidFill>
                <a:latin typeface="Helvetica Neue"/>
              </a:rPr>
              <a:t>irops-copilot-backend.onrender.com/talk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5C6069"/>
                </a:solidFill>
                <a:latin typeface="Helvetica Neue"/>
              </a:rPr>
              <a:t>Try: “My booking reference is K seven X two M nine.”     github.com/sirajtechy/Airlines-Voice-Agent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