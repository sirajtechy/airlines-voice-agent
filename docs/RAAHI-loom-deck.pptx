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 seconds on the artwork. Don't read the slide. Go straight to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Screen: the live advisory page, scrolled to these sentences. Let them be read. Say: 'these are not in any database — they're prose on a web page.'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Screen: phone on /talk. Say the PNR out loud. Then P3L8QK. The contrast IS the pitch — same destination, opposite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ONE arrow pointing back in — the context.dev monitor webhook. Everything else is request/response; that is a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Zoom on the parallel block while saying: one booking reference, five live sources, one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separates us from a chatbot with a search box. Every one of these is pinned by a test against verbatim page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ONE to demo live: change detection, airspace snapshot, the card-number guardrail, or Arabic. Not all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 before a judge asks. Overclaiming is explicitly penalised; naming limits reads as engineering maturity.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Reserve slide. Use if judges probe on robustness or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but strong. Shows we tested adversarially rather than demoed happy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as the emotional beat before the call to action, or as the closing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here. Leave it on screen while you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aahi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101012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aahi-symb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25880"/>
            <a:ext cx="1112996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37744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6400" b="1">
                <a:solidFill>
                  <a:srgbClr val="FFFFFF"/>
                </a:solidFill>
                <a:latin typeface="Helvetica Neue"/>
              </a:rPr>
              <a:t>RAAHI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015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C39C57"/>
                </a:solidFill>
                <a:latin typeface="Helvetica Neue"/>
              </a:rPr>
              <a:t>Y O U R   W A Y   F O R W A R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Helvetica Neue"/>
              </a:rPr>
              <a:t>A voice copilot that reads the page airlines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Helvetica Neue"/>
              </a:rPr>
              <a:t>actually publish — and tells a stranded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Helvetica Neue"/>
              </a:rPr>
              <a:t>passenger what to do next.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321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C9CCD2"/>
                </a:solidFill>
                <a:latin typeface="Helvetica Neue"/>
              </a:rPr>
              <a:t>Siraj  ·  Astha  ·  Farman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C9CCD2"/>
                </a:solidFill>
                <a:latin typeface="Helvetica Neue"/>
              </a:rPr>
              <a:t>BUiD Voice Agents Hackathon, Dubai  ·  8 August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7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ahi-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492062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4023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D71921"/>
                </a:solidFill>
                <a:latin typeface="Helvetica Neue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0">
                <a:solidFill>
                  <a:srgbClr val="1C1C1C"/>
                </a:solidFill>
                <a:latin typeface="Helvetica Neue"/>
              </a:rPr>
              <a:t>Two sentences decide whether she should get in a taxi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66928" cy="38100"/>
          </a:xfrm>
          <a:prstGeom prst="rect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0">
                <a:solidFill>
                  <a:srgbClr val="A3121A"/>
                </a:solidFill>
                <a:latin typeface="Helvetica Neue"/>
              </a:rPr>
              <a:t>“The UAE will not allow entry to travellers who have recently been in the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0">
                <a:solidFill>
                  <a:srgbClr val="A3121A"/>
                </a:solidFill>
                <a:latin typeface="Helvetica Neue"/>
              </a:rPr>
              <a:t>Democratic Republic of Congo, Uganda, or South Sudan, unless the traveller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0">
                <a:solidFill>
                  <a:srgbClr val="A3121A"/>
                </a:solidFill>
                <a:latin typeface="Helvetica Neue"/>
              </a:rPr>
              <a:t>has been outside of these countries for more than 21 days.”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0">
                <a:solidFill>
                  <a:srgbClr val="A3121A"/>
                </a:solidFill>
                <a:latin typeface="Helvetica Neue"/>
              </a:rPr>
              <a:t>“The entry and transit restrictions apply to all travellers, even those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0">
                <a:solidFill>
                  <a:srgbClr val="A3121A"/>
                </a:solidFill>
                <a:latin typeface="Helvetica Neue"/>
              </a:rPr>
              <a:t>arriving by indirect routings.”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460857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44897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1C1C1C"/>
                </a:solidFill>
                <a:latin typeface="Helvetica Neue"/>
              </a:rPr>
              <a:t>Not in any database.  </a:t>
            </a:r>
            <a:r>
              <a:rPr sz="1500">
                <a:solidFill>
                  <a:srgbClr val="5C6069"/>
                </a:solidFill>
                <a:latin typeface="Helvetica Neue"/>
              </a:rPr>
              <a:t>Prose on emirates.com/help/travel-updates — changed in June, will change again.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511149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499262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1C1C1C"/>
                </a:solidFill>
                <a:latin typeface="Helvetica Neue"/>
              </a:rPr>
              <a:t>Buried.  </a:t>
            </a:r>
            <a:r>
              <a:rPr sz="1500">
                <a:solidFill>
                  <a:srgbClr val="5C6069"/>
                </a:solidFill>
                <a:latin typeface="Helvetica Neue"/>
              </a:rPr>
              <a:t>Between a lounge refurbishment notice and Schengen biometrics.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561441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549554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1C1C1C"/>
                </a:solidFill>
                <a:latin typeface="Helvetica Neue"/>
              </a:rPr>
              <a:t>Decisive.  </a:t>
            </a:r>
            <a:r>
              <a:rPr sz="1500">
                <a:solidFill>
                  <a:srgbClr val="5C6069"/>
                </a:solidFill>
                <a:latin typeface="Helvetica Neue"/>
              </a:rPr>
              <a:t>Kampala → Dubai → London is blocked. The queue to ask is measured in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ahi-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492062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4023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D71921"/>
                </a:solidFill>
                <a:latin typeface="Helvetica Neue"/>
              </a:rPr>
              <a:t>THE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0">
                <a:solidFill>
                  <a:srgbClr val="1C1C1C"/>
                </a:solidFill>
                <a:latin typeface="Helvetica Neue"/>
              </a:rPr>
              <a:t>One booking reference → five live checks → one decision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66928" cy="38100"/>
          </a:xfrm>
          <a:prstGeom prst="rect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1">
                <a:solidFill>
                  <a:srgbClr val="D71921"/>
                </a:solidFill>
                <a:latin typeface="Helvetica Neue"/>
              </a:rPr>
              <a:t>“My booking reference is K seven X two M nine — should I leave for the airport?”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68833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56946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1C1C1C"/>
                </a:solidFill>
                <a:latin typeface="Helvetica Neue"/>
              </a:rPr>
              <a:t>transit_rules  </a:t>
            </a:r>
            <a:r>
              <a:rPr sz="1500">
                <a:solidFill>
                  <a:srgbClr val="5C6069"/>
                </a:solidFill>
                <a:latin typeface="Helvetica Neue"/>
              </a:rPr>
              <a:t>live advisory — restriction keys off ORIGIN, not destination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163824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0449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1C1C1C"/>
                </a:solidFill>
                <a:latin typeface="Helvetica Neue"/>
              </a:rPr>
              <a:t>disruption_status  </a:t>
            </a:r>
            <a:r>
              <a:rPr sz="1500">
                <a:solidFill>
                  <a:srgbClr val="5C6069"/>
                </a:solidFill>
                <a:latin typeface="Helvetica Neue"/>
              </a:rPr>
              <a:t>live advisory — is London itself affected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639312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520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1C1C1C"/>
                </a:solidFill>
                <a:latin typeface="Helvetica Neue"/>
              </a:rPr>
              <a:t>entry_requirements  </a:t>
            </a:r>
            <a:r>
              <a:rPr sz="1500">
                <a:solidFill>
                  <a:srgbClr val="5C6069"/>
                </a:solidFill>
                <a:latin typeface="Helvetica Neue"/>
              </a:rPr>
              <a:t>live advisory + gov.uk + europa.eu — UK ETA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114800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9959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1C1C1C"/>
                </a:solidFill>
                <a:latin typeface="Helvetica Neue"/>
              </a:rPr>
              <a:t>track_aircraft  </a:t>
            </a:r>
            <a:r>
              <a:rPr sz="1500">
                <a:solidFill>
                  <a:srgbClr val="5C6069"/>
                </a:solidFill>
                <a:latin typeface="Helvetica Neue"/>
              </a:rPr>
              <a:t>live ADS-B transponder — where the aircraft physically is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4590288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47141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1C1C1C"/>
                </a:solidFill>
                <a:latin typeface="Helvetica Neue"/>
              </a:rPr>
              <a:t>weather_ops  </a:t>
            </a:r>
            <a:r>
              <a:rPr sz="1500">
                <a:solidFill>
                  <a:srgbClr val="5C6069"/>
                </a:solidFill>
                <a:latin typeface="Helvetica Neue"/>
              </a:rPr>
              <a:t>live METAR — Dubai station conditions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120640"/>
            <a:ext cx="109728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39C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285232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C1C1C"/>
                </a:solidFill>
                <a:latin typeface="Helvetica Neue"/>
              </a:rPr>
              <a:t>Answered in 1.98 seconds, fanned out in parallel.        Control case: P3L8QK — Mumbai → London.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C1C1C"/>
                </a:solidFill>
                <a:latin typeface="Helvetica Neue"/>
              </a:rPr>
              <a:t>Same destination. Opposite answer. Because the restriction depends on where you have BEEN.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ahi-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492062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4023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D71921"/>
                </a:solidFill>
                <a:latin typeface="Helvetica Neue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0">
                <a:solidFill>
                  <a:srgbClr val="1C1C1C"/>
                </a:solidFill>
                <a:latin typeface="Helvetica Neue"/>
              </a:rPr>
              <a:t>Five layers, and failure flows down gracefully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66928" cy="38100"/>
          </a:xfrm>
          <a:prstGeom prst="rect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chitecture-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11247120" cy="52611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ahi-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492062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4023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D71921"/>
                </a:solidFill>
                <a:latin typeface="Helvetica Neue"/>
              </a:rPr>
              <a:t>THE CALL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0">
                <a:solidFill>
                  <a:srgbClr val="1C1C1C"/>
                </a:solidFill>
                <a:latin typeface="Helvetica Neue"/>
              </a:rPr>
              <a:t>PNR in, decision out — with the parallel fan-out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66928" cy="38100"/>
          </a:xfrm>
          <a:prstGeom prst="rect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mo-call-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783080"/>
            <a:ext cx="6636774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ahi-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492062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4023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D71921"/>
                </a:solidFill>
                <a:latin typeface="Helvetica Neue"/>
              </a:rPr>
              <a:t>THE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0">
                <a:solidFill>
                  <a:srgbClr val="1C1C1C"/>
                </a:solidFill>
                <a:latin typeface="Helvetica Neue"/>
              </a:rPr>
              <a:t>What a keyword match would get wrong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66928" cy="38100"/>
          </a:xfrm>
          <a:prstGeom prst="rect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200253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88366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C1C1C"/>
                </a:solidFill>
                <a:latin typeface="Helvetica Neue"/>
              </a:rPr>
              <a:t>Two-sided matching  </a:t>
            </a:r>
            <a:r>
              <a:rPr sz="1400">
                <a:solidFill>
                  <a:srgbClr val="5C6069"/>
                </a:solidFill>
                <a:latin typeface="Helvetica Neue"/>
              </a:rPr>
              <a:t>Restrictions key off where you have BEEN. Destination-only checking tells the Kampala passenger she is fine. She is not.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807208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68833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C1C1C"/>
                </a:solidFill>
                <a:latin typeface="Helvetica Neue"/>
              </a:rPr>
              <a:t>Sentence windows  </a:t>
            </a:r>
            <a:r>
              <a:rPr sz="1400">
                <a:solidFill>
                  <a:srgbClr val="5C6069"/>
                </a:solidFill>
                <a:latin typeface="Helvetica Neue"/>
              </a:rPr>
              <a:t>The qualifier that changes the answer sits in a neighbouring sentence, so every match reads one either side.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611880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4930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C1C1C"/>
                </a:solidFill>
                <a:latin typeface="Helvetica Neue"/>
              </a:rPr>
              <a:t>Effective-from ≠ until  </a:t>
            </a:r>
            <a:r>
              <a:rPr sz="1400">
                <a:solidFill>
                  <a:srgbClr val="5C6069"/>
                </a:solidFill>
                <a:latin typeface="Helvetica Neue"/>
              </a:rPr>
              <a:t>“effective 6 June 2026 (until further notice)” contains a date that is not an end date. Returns open_ended, not a lifted restriction.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416552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297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C1C1C"/>
                </a:solidFill>
                <a:latin typeface="Helvetica Neue"/>
              </a:rPr>
              <a:t>Main-clause classification  </a:t>
            </a:r>
            <a:r>
              <a:rPr sz="1400">
                <a:solidFill>
                  <a:srgbClr val="5C6069"/>
                </a:solidFill>
                <a:latin typeface="Helvetica Neue"/>
              </a:rPr>
              <a:t>“If you do NOT need a visa… you WILL need an ETA.” The negation is in the subordinate clause. Filing that as an exemption gets someone denied boarding.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5221224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51023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C1C1C"/>
                </a:solidFill>
                <a:latin typeface="Helvetica Neue"/>
              </a:rPr>
              <a:t>Alias resolution  </a:t>
            </a:r>
            <a:r>
              <a:rPr sz="1400">
                <a:solidFill>
                  <a:srgbClr val="5C6069"/>
                </a:solidFill>
                <a:latin typeface="Helvetica Neue"/>
              </a:rPr>
              <a:t>Callers say “DRC”, “the Congo”, “Kampala”. The page says “Democratic Republic of Congo”, “Uganda”.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ahi-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492062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4023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D71921"/>
                </a:solidFill>
                <a:latin typeface="Helvetica Neue"/>
              </a:rPr>
              <a:t>SPONSOR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0">
                <a:solidFill>
                  <a:srgbClr val="1C1C1C"/>
                </a:solidFill>
                <a:latin typeface="Helvetica Neue"/>
              </a:rPr>
              <a:t>context.dev and ElevenLabs, used to their edges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66928" cy="38100"/>
          </a:xfrm>
          <a:prstGeom prst="rect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D71921"/>
                </a:solidFill>
                <a:latin typeface="Helvetica Neue"/>
              </a:rPr>
              <a:t>CONTEXT.DEV — 4 CAPABILITIES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41401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29514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1C1C1C"/>
                </a:solidFill>
                <a:latin typeface="Helvetica Neue"/>
              </a:rPr>
              <a:t>scrape/markdown  </a:t>
            </a:r>
            <a:r>
              <a:rPr sz="1300">
                <a:solidFill>
                  <a:srgbClr val="5C6069"/>
                </a:solidFill>
                <a:latin typeface="Helvetica Neue"/>
              </a:rPr>
              <a:t>4 verified sources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87121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75234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1C1C1C"/>
                </a:solidFill>
                <a:latin typeface="Helvetica Neue"/>
              </a:rPr>
              <a:t>web/search  </a:t>
            </a:r>
            <a:r>
              <a:rPr sz="1300">
                <a:solidFill>
                  <a:srgbClr val="5C6069"/>
                </a:solidFill>
                <a:latin typeface="Helvetica Neue"/>
              </a:rPr>
              <a:t>allowlisted to 3 official domains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32841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20954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1C1C1C"/>
                </a:solidFill>
                <a:latin typeface="Helvetica Neue"/>
              </a:rPr>
              <a:t>monitors  </a:t>
            </a:r>
            <a:r>
              <a:rPr sz="1300">
                <a:solidFill>
                  <a:srgbClr val="5C6069"/>
                </a:solidFill>
                <a:latin typeface="Helvetica Neue"/>
              </a:rPr>
              <a:t>semantic diff every 15 min, signed webhook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78561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66674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1C1C1C"/>
                </a:solidFill>
                <a:latin typeface="Helvetica Neue"/>
              </a:rPr>
              <a:t>scrape/html  </a:t>
            </a:r>
            <a:r>
              <a:rPr sz="1300">
                <a:solidFill>
                  <a:srgbClr val="5C6069"/>
                </a:solidFill>
                <a:latin typeface="Helvetica Neue"/>
              </a:rPr>
              <a:t>evaluated; markdown sufficed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8745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D71921"/>
                </a:solidFill>
                <a:latin typeface="Helvetica Neue"/>
              </a:rPr>
              <a:t>ELEVENLABS — BOTH INTEGRATION PATHS</a:t>
            </a:r>
          </a:p>
        </p:txBody>
      </p:sp>
      <p:sp>
        <p:nvSpPr>
          <p:cNvPr id="18" name="Oval 17"/>
          <p:cNvSpPr/>
          <p:nvPr/>
        </p:nvSpPr>
        <p:spPr>
          <a:xfrm>
            <a:off x="6309360" y="241401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29514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1C1C1C"/>
                </a:solidFill>
                <a:latin typeface="Helvetica Neue"/>
              </a:rPr>
              <a:t>12 webhook tools  </a:t>
            </a:r>
            <a:r>
              <a:rPr sz="1300">
                <a:solidFill>
                  <a:srgbClr val="5C6069"/>
                </a:solidFill>
                <a:latin typeface="Helvetica Neue"/>
              </a:rPr>
              <a:t>schedule &amp; policy</a:t>
            </a:r>
          </a:p>
        </p:txBody>
      </p:sp>
      <p:sp>
        <p:nvSpPr>
          <p:cNvPr id="20" name="Oval 19"/>
          <p:cNvSpPr/>
          <p:nvPr/>
        </p:nvSpPr>
        <p:spPr>
          <a:xfrm>
            <a:off x="6309360" y="287121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75234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1C1C1C"/>
                </a:solidFill>
                <a:latin typeface="Helvetica Neue"/>
              </a:rPr>
              <a:t>Native MCP server  </a:t>
            </a:r>
            <a:r>
              <a:rPr sz="1300">
                <a:solidFill>
                  <a:srgbClr val="5C6069"/>
                </a:solidFill>
                <a:latin typeface="Helvetica Neue"/>
              </a:rPr>
              <a:t>live ADS-B tracking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0" y="332841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320954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1C1C1C"/>
                </a:solidFill>
                <a:latin typeface="Helvetica Neue"/>
              </a:rPr>
              <a:t>ASR keyword boost  </a:t>
            </a:r>
            <a:r>
              <a:rPr sz="1300">
                <a:solidFill>
                  <a:srgbClr val="5C6069"/>
                </a:solidFill>
                <a:latin typeface="Helvetica Neue"/>
              </a:rPr>
              <a:t>callsigns, codes, Arabic terms</a:t>
            </a:r>
          </a:p>
        </p:txBody>
      </p:sp>
      <p:sp>
        <p:nvSpPr>
          <p:cNvPr id="24" name="Oval 23"/>
          <p:cNvSpPr/>
          <p:nvPr/>
        </p:nvSpPr>
        <p:spPr>
          <a:xfrm>
            <a:off x="6309360" y="378561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366674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1C1C1C"/>
                </a:solidFill>
                <a:latin typeface="Helvetica Neue"/>
              </a:rPr>
              <a:t>Language presets  </a:t>
            </a:r>
            <a:r>
              <a:rPr sz="1300">
                <a:solidFill>
                  <a:srgbClr val="5C6069"/>
                </a:solidFill>
                <a:latin typeface="Helvetica Neue"/>
              </a:rPr>
              <a:t>Arabic + Hindi, switches mid-call</a:t>
            </a:r>
          </a:p>
        </p:txBody>
      </p:sp>
      <p:sp>
        <p:nvSpPr>
          <p:cNvPr id="26" name="Oval 25"/>
          <p:cNvSpPr/>
          <p:nvPr/>
        </p:nvSpPr>
        <p:spPr>
          <a:xfrm>
            <a:off x="6309360" y="424281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412394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1C1C1C"/>
                </a:solidFill>
                <a:latin typeface="Helvetica Neue"/>
              </a:rPr>
              <a:t>Guardrails  </a:t>
            </a:r>
            <a:r>
              <a:rPr sz="1300">
                <a:solidFill>
                  <a:srgbClr val="5C6069"/>
                </a:solidFill>
                <a:latin typeface="Helvetica Neue"/>
              </a:rPr>
              <a:t>focus, injection, content, 2 custom</a:t>
            </a:r>
          </a:p>
        </p:txBody>
      </p:sp>
      <p:sp>
        <p:nvSpPr>
          <p:cNvPr id="28" name="Oval 27"/>
          <p:cNvSpPr/>
          <p:nvPr/>
        </p:nvSpPr>
        <p:spPr>
          <a:xfrm>
            <a:off x="6309360" y="470001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458114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1C1C1C"/>
                </a:solidFill>
                <a:latin typeface="Helvetica Neue"/>
              </a:rPr>
              <a:t>Eval criteria  </a:t>
            </a:r>
            <a:r>
              <a:rPr sz="1300">
                <a:solidFill>
                  <a:srgbClr val="5C6069"/>
                </a:solidFill>
                <a:latin typeface="Helvetica Neue"/>
              </a:rPr>
              <a:t>every call scored post-hoc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715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5C6069"/>
                </a:solidFill>
                <a:latin typeface="Helvetica Neue"/>
              </a:rPr>
              <a:t>Plus: adsb.lol ADS-B (keyless, ODbL) · aviationweather.gov METAR · Render · Node 18 / Express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ahi-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492062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4023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D71921"/>
                </a:solidFill>
                <a:latin typeface="Helvetica Neue"/>
              </a:rPr>
              <a:t>WHAT IS ACTUALLY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0">
                <a:solidFill>
                  <a:srgbClr val="1C1C1C"/>
                </a:solidFill>
                <a:latin typeface="Helvetica Neue"/>
              </a:rPr>
              <a:t>Every response carries its own source field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66928" cy="38100"/>
          </a:xfrm>
          <a:prstGeom prst="rect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200253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88366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C1C1C"/>
                </a:solidFill>
                <a:latin typeface="Helvetica Neue"/>
              </a:rPr>
              <a:t>Live on every call  </a:t>
            </a:r>
            <a:r>
              <a:rPr sz="1400">
                <a:solidFill>
                  <a:srgbClr val="5C6069"/>
                </a:solidFill>
                <a:latin typeface="Helvetica Neue"/>
              </a:rPr>
              <a:t>disruption_status · transit_rules · entry_requirements · weather_ops · recent_changes · travel_intel · track_aircraft · airspace_snapshot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87121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75234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C1C1C"/>
                </a:solidFill>
                <a:latin typeface="Helvetica Neue"/>
              </a:rPr>
              <a:t>Split-source, labelled  </a:t>
            </a:r>
            <a:r>
              <a:rPr sz="1400">
                <a:solidFill>
                  <a:srgbClr val="5C6069"/>
                </a:solidFill>
                <a:latin typeface="Helvetica Neue"/>
              </a:rPr>
              <a:t>flight_status — ADS-B position live, schedule static. Two source fields so the live half cannot lend credibility to the static half.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73989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62102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C1C1C"/>
                </a:solidFill>
                <a:latin typeface="Helvetica Neue"/>
              </a:rPr>
              <a:t>Static by design  </a:t>
            </a:r>
            <a:r>
              <a:rPr sz="1400">
                <a:solidFill>
                  <a:srgbClr val="5C6069"/>
                </a:solidFill>
                <a:latin typeface="Helvetica Neue"/>
              </a:rPr>
              <a:t>policy_lookup — entitlements do not change hourly.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D71921"/>
                </a:solidFill>
                <a:latin typeface="Helvetica Neue"/>
              </a:rPr>
              <a:t>WHAT WE DO NOT CLAIM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506577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9469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1C1C1C"/>
                </a:solidFill>
                <a:latin typeface="Helvetica Neue"/>
              </a:rPr>
              <a:t>No real PNR lookup.  </a:t>
            </a:r>
            <a:r>
              <a:rPr sz="1300">
                <a:solidFill>
                  <a:srgbClr val="5C6069"/>
                </a:solidFill>
                <a:latin typeface="Helvetica Neue"/>
              </a:rPr>
              <a:t>emirates.com/manage-booking is auth-gated — we scraped it and got a login redirect. The booking store is a labelled stub; everything downstream is live.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5541264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54223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1C1C1C"/>
                </a:solidFill>
                <a:latin typeface="Helvetica Neue"/>
              </a:rPr>
              <a:t>No live gates or delays.  </a:t>
            </a:r>
            <a:r>
              <a:rPr sz="1300">
                <a:solidFill>
                  <a:srgbClr val="5C6069"/>
                </a:solidFill>
                <a:latin typeface="Helvetica Neue"/>
              </a:rPr>
              <a:t>Commercial data. ADS-B gives position, not schedule, and we label it as position.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6016752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5897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1C1C1C"/>
                </a:solidFill>
                <a:latin typeface="Helvetica Neue"/>
              </a:rPr>
              <a:t>No push into a live turn.  </a:t>
            </a:r>
            <a:r>
              <a:rPr sz="1300">
                <a:solidFill>
                  <a:srgbClr val="5C6069"/>
                </a:solidFill>
                <a:latin typeface="Helvetica Neue"/>
              </a:rPr>
              <a:t>The monitor pushes to us in minutes; the agent learns on its next tool call.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ahi-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492062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4023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D71921"/>
                </a:solidFill>
                <a:latin typeface="Helvetica Neue"/>
              </a:rPr>
              <a:t>RELIABILITY &amp;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0">
                <a:solidFill>
                  <a:srgbClr val="1C1C1C"/>
                </a:solidFill>
                <a:latin typeface="Helvetica Neue"/>
              </a:rPr>
              <a:t>The demo has to survive venue wifi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66928" cy="38100"/>
          </a:xfrm>
          <a:prstGeom prst="rect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200253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88366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C1C1C"/>
                </a:solidFill>
                <a:latin typeface="Helvetica Neue"/>
              </a:rPr>
              <a:t>Never a 500  </a:t>
            </a:r>
            <a:r>
              <a:rPr sz="1400">
                <a:solidFill>
                  <a:srgbClr val="5C6069"/>
                </a:solidFill>
                <a:latin typeface="Helvetica Neue"/>
              </a:rPr>
              <a:t>Any throw becomes 200 + a spoken-friendly message. A failed tool call is a voice agent going silent mid-sentence.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68833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56946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C1C1C"/>
                </a:solidFill>
                <a:latin typeface="Helvetica Neue"/>
              </a:rPr>
              <a:t>live → cache → static → apology  </a:t>
            </a:r>
            <a:r>
              <a:rPr sz="1400">
                <a:solidFill>
                  <a:srgbClr val="5C6069"/>
                </a:solidFill>
                <a:latin typeface="Helvetica Neue"/>
              </a:rPr>
              <a:t>Four-step degradation on every source call, with the honest label attached.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37413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25526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C1C1C"/>
                </a:solidFill>
                <a:latin typeface="Helvetica Neue"/>
              </a:rPr>
              <a:t>58 tests, key blank  </a:t>
            </a:r>
            <a:r>
              <a:rPr sz="1400">
                <a:solidFill>
                  <a:srgbClr val="5C6069"/>
                </a:solidFill>
                <a:latin typeface="Helvetica Neue"/>
              </a:rPr>
              <a:t>The offline path is the one tested hardest.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05993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94106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C1C1C"/>
                </a:solidFill>
                <a:latin typeface="Helvetica Neue"/>
              </a:rPr>
              <a:t>Two guardrail layers  </a:t>
            </a:r>
            <a:r>
              <a:rPr sz="1400">
                <a:solidFill>
                  <a:srgbClr val="5C6069"/>
                </a:solidFill>
                <a:latin typeface="Helvetica Neue"/>
              </a:rPr>
              <a:t>Platform guardrails outside the LLM + prompt rules. Verified adversarially: 5/5.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474573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462686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C1C1C"/>
                </a:solidFill>
                <a:latin typeface="Helvetica Neue"/>
              </a:rPr>
              <a:t>Backend redaction  </a:t>
            </a:r>
            <a:r>
              <a:rPr sz="1400">
                <a:solidFill>
                  <a:srgbClr val="5C6069"/>
                </a:solidFill>
                <a:latin typeface="Helvetica Neue"/>
              </a:rPr>
              <a:t>Cards, CVVs, IBANs, passports scrubbed from logs — Luhn-checked so ticket numbers survive.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543153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531266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C1C1C"/>
                </a:solidFill>
                <a:latin typeface="Helvetica Neue"/>
              </a:rPr>
              <a:t>Injection defanged  </a:t>
            </a:r>
            <a:r>
              <a:rPr sz="1400">
                <a:solidFill>
                  <a:srgbClr val="5C6069"/>
                </a:solidFill>
                <a:latin typeface="Helvetica Neue"/>
              </a:rPr>
              <a:t>Scraped prose is untrusted input handed to an LLM. Neutralised at the choke point.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ahi-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492062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4023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D71921"/>
                </a:solidFill>
                <a:latin typeface="Helvetica Neue"/>
              </a:rPr>
              <a:t>TWO BUGS WORTH ADMITTING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0">
                <a:solidFill>
                  <a:srgbClr val="1C1C1C"/>
                </a:solidFill>
                <a:latin typeface="Helvetica Neue"/>
              </a:rPr>
              <a:t>Both found by testing, both pinned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66928" cy="38100"/>
          </a:xfrm>
          <a:prstGeom prst="rect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209397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751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1C1C1C"/>
                </a:solidFill>
                <a:latin typeface="Helvetica Neue"/>
              </a:rPr>
              <a:t>The agent invented an all-clear.  </a:t>
            </a:r>
            <a:r>
              <a:rPr sz="1500">
                <a:solidFill>
                  <a:srgbClr val="5C6069"/>
                </a:solidFill>
                <a:latin typeface="Helvetica Neue"/>
              </a:rPr>
              <a:t>Given an unreadable tool result it said “clear to travel, proceed to the airport.” The backend said BLOCKED. It would have sent her to be refused at the gate. Now: an unreadable result is never good news, and it will not soften under a repeated question.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4014216"/>
            <a:ext cx="100584" cy="100584"/>
          </a:xfrm>
          <a:prstGeom prst="ellipse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89534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1C1C1C"/>
                </a:solidFill>
                <a:latin typeface="Helvetica Neue"/>
              </a:rPr>
              <a:t>One sentence could flip blocked → allowed.  </a:t>
            </a:r>
            <a:r>
              <a:rPr sz="1500">
                <a:solidFill>
                  <a:srgbClr val="5C6069"/>
                </a:solidFill>
                <a:latin typeface="Helvetica Neue"/>
              </a:rPr>
              <a:t>The origin-side check asked a document-level question of a ±1 sentence window. An intervening sentence pushed the proof out and reversed the answer — reachable by Emirates simply editing their page. Scope is now read document-wide.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aahi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041648"/>
            <a:ext cx="12191695" cy="2816352"/>
          </a:xfrm>
          <a:prstGeom prst="rect">
            <a:avLst/>
          </a:prstGeom>
          <a:solidFill>
            <a:srgbClr val="101012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1596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Helvetica Neue"/>
              </a:rPr>
              <a:t>One question. Every layer. Two 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b="0">
                <a:solidFill>
                  <a:srgbClr val="DCDFE4"/>
                </a:solidFill>
                <a:latin typeface="Helvetica Neue"/>
              </a:rPr>
              <a:t>Voice · live advisory prose · entry rules · real aircraft · change detection — resolved into one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b="0">
                <a:solidFill>
                  <a:srgbClr val="DCDFE4"/>
                </a:solidFill>
                <a:latin typeface="Helvetica Neue"/>
              </a:rPr>
              <a:t>sentence a passenger can act on, in the language they are frightened 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7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719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695" cy="38100"/>
          </a:xfrm>
          <a:prstGeom prst="rect">
            <a:avLst/>
          </a:prstGeom>
          <a:solidFill>
            <a:srgbClr val="C39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4000" b="0">
                <a:solidFill>
                  <a:srgbClr val="1C1C1C"/>
                </a:solidFill>
                <a:latin typeface="Helvetica Neue"/>
              </a:rPr>
              <a:t>Scan and talk to Raahi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5C6069"/>
                </a:solidFill>
                <a:latin typeface="Helvetica Neue"/>
              </a:rPr>
              <a:t>No app. A phone browser and a microphone.</a:t>
            </a:r>
          </a:p>
        </p:txBody>
      </p:sp>
      <p:pic>
        <p:nvPicPr>
          <p:cNvPr id="7" name="Picture 6" descr="raahi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965960"/>
            <a:ext cx="32004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349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A3121A"/>
                </a:solidFill>
                <a:latin typeface="Helvetica Neue"/>
              </a:rPr>
              <a:t>irops-copilot-backend.onrender.com/talk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5C6069"/>
                </a:solidFill>
                <a:latin typeface="Helvetica Neue"/>
              </a:rPr>
              <a:t>Try: “My booking reference is K seven X two M nine.”     github.com/sirajtechy/Airlines-Voice-Agent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